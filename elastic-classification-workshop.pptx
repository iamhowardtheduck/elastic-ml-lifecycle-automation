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64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952BE"/>
          </a:solidFill>
          <a:ln w="12700">
            <a:solidFill>
              <a:srgbClr val="0952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188720"/>
            <a:ext cx="2560320" cy="274320"/>
          </a:xfrm>
          <a:prstGeom prst="roundRect">
            <a:avLst>
              <a:gd name="adj" fmla="val 16667"/>
            </a:avLst>
          </a:prstGeom>
          <a:solidFill>
            <a:srgbClr val="1860D4"/>
          </a:solidFill>
          <a:ln w="10160">
            <a:solidFill>
              <a:srgbClr val="48E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1207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8E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0 — Setup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0" y="1755648"/>
            <a:ext cx="2560320" cy="274320"/>
          </a:xfrm>
          <a:prstGeom prst="roundRect">
            <a:avLst>
              <a:gd name="adj" fmla="val 16667"/>
            </a:avLst>
          </a:prstGeom>
          <a:solidFill>
            <a:srgbClr val="1860D4"/>
          </a:solidFill>
          <a:ln w="10160">
            <a:solidFill>
              <a:srgbClr val="48EF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1773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8E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1 — Classification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0" y="2322576"/>
            <a:ext cx="2560320" cy="274320"/>
          </a:xfrm>
          <a:prstGeom prst="roundRect">
            <a:avLst>
              <a:gd name="adj" fmla="val 16667"/>
            </a:avLst>
          </a:prstGeom>
          <a:solidFill>
            <a:srgbClr val="1860D4"/>
          </a:solidFill>
          <a:ln w="10160">
            <a:solidFill>
              <a:srgbClr val="48EF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340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8E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2 — Agent + Workflow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0" y="2889504"/>
            <a:ext cx="2560320" cy="274320"/>
          </a:xfrm>
          <a:prstGeom prst="roundRect">
            <a:avLst>
              <a:gd name="adj" fmla="val 16667"/>
            </a:avLst>
          </a:prstGeom>
          <a:solidFill>
            <a:srgbClr val="1860D4"/>
          </a:solidFill>
          <a:ln w="10160">
            <a:solidFill>
              <a:srgbClr val="48EF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907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8E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3 — Take-Aways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822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48E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ELASTIC MACHINE LEARNING — DATA FRAME ANALYTICS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1060704"/>
            <a:ext cx="502920" cy="36576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14300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LendPath ML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how a fictional mortgage lender's data tells a story of risk — and how Elastic ML turns that story into real-time predictions, AI-assisted analysis, and fully automated model creation.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4480560"/>
            <a:ext cx="1280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4988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44805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Search AI Company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You'll </a:t>
            </a:r>
            <a:pPr indent="0" marL="0">
              <a:buNone/>
            </a:pPr>
            <a:r>
              <a:rPr lang="en-US" sz="22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2004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872" y="4773168"/>
            <a:ext cx="128016" cy="347472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47914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77640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307592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" y="1417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1 — MANUAL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21792" y="16093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Build, Train &amp; Deploy a Classification Job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19385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mortgage-privileged-access-classification from scratch. Explore the Kibana wizard, recreate via Dev Tools with full excludes + hyperparameters, evaluate results, deploy as an ingest pipeline, and observe live predictions in Discover.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" y="3017520"/>
            <a:ext cx="870509" cy="201168"/>
          </a:xfrm>
          <a:prstGeom prst="roundRect">
            <a:avLst>
              <a:gd name="adj" fmla="val 18182"/>
            </a:avLst>
          </a:prstGeom>
          <a:solidFill>
            <a:srgbClr val="D6E8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026664"/>
            <a:ext cx="8705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PingOne IAM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298448" y="3017520"/>
            <a:ext cx="738835" cy="201168"/>
          </a:xfrm>
          <a:prstGeom prst="roundRect">
            <a:avLst>
              <a:gd name="adj" fmla="val 18182"/>
            </a:avLst>
          </a:prstGeom>
          <a:solidFill>
            <a:srgbClr val="D0F5EE"/>
          </a:solidFill>
          <a:ln w="12700">
            <a:solidFill>
              <a:srgbClr val="D0F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3026664"/>
            <a:ext cx="7388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A8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 DB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975104" y="3017520"/>
            <a:ext cx="738835" cy="201168"/>
          </a:xfrm>
          <a:prstGeom prst="roundRect">
            <a:avLst>
              <a:gd name="adj" fmla="val 18182"/>
            </a:avLst>
          </a:prstGeom>
          <a:solidFill>
            <a:srgbClr val="FCE9E1"/>
          </a:solidFill>
          <a:ln w="12700">
            <a:solidFill>
              <a:srgbClr val="FCE9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75104" y="3026664"/>
            <a:ext cx="7388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4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classes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709160" y="1143000"/>
            <a:ext cx="3977640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1307592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73752" y="1417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2 — AUTOMATED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873752" y="16093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 + Workflow Automation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19385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ML Readiness Analyst agent to discover data, assess class balance, and analyze features. Then wire an Elastic Workflow that automatically creates and starts mortgage-audit-classification end-to-end.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73752" y="3017520"/>
            <a:ext cx="1002182" cy="201168"/>
          </a:xfrm>
          <a:prstGeom prst="roundRect">
            <a:avLst>
              <a:gd name="adj" fmla="val 18182"/>
            </a:avLst>
          </a:prstGeom>
          <a:solidFill>
            <a:srgbClr val="D6E8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026664"/>
            <a:ext cx="10021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Builder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687568" y="3017520"/>
            <a:ext cx="738835" cy="201168"/>
          </a:xfrm>
          <a:prstGeom prst="roundRect">
            <a:avLst>
              <a:gd name="adj" fmla="val 18182"/>
            </a:avLst>
          </a:prstGeom>
          <a:solidFill>
            <a:srgbClr val="FCE5F0"/>
          </a:solidFill>
          <a:ln w="12700">
            <a:solidFill>
              <a:srgbClr val="FCE5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3026664"/>
            <a:ext cx="7388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04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382512" y="3017520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DF6D8"/>
          </a:solidFill>
          <a:ln w="12700">
            <a:solidFill>
              <a:srgbClr val="FDF6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302666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6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logs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Data Streams, </a:t>
            </a:r>
            <a:pPr indent="0" marL="0">
              <a:buNone/>
            </a:pPr>
            <a:r>
              <a:rPr lang="en-US" sz="22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Classification Jobs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2004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872" y="4773168"/>
            <a:ext cx="128016" cy="347472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47914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19456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3108960"/>
                <a:gridCol w="1280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STREAM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4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4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LABEL FIELD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4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USED IN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4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logs-ping_one.audit-mortgage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PingOne IAM events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ping_one.audit.risk.level — LOW / MEDIUM / HIGH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Chapter 1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logs-oracle.database_audit-mortgage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Oracle DB audit events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label — provides cross-source features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Chapter 1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logs-mortgage.audit-default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Internal LendPath audit log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audit.is_suspicious — boolean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Chapter 2</a:t>
                      </a:r>
                      <a:endParaRPr lang="en-US" sz="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520440"/>
            <a:ext cx="36576" cy="658368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" y="3520440"/>
            <a:ext cx="8193024" cy="658368"/>
          </a:xfrm>
          <a:prstGeom prst="rect">
            <a:avLst/>
          </a:prstGeom>
          <a:solidFill>
            <a:srgbClr val="E8FBF7"/>
          </a:solidFill>
          <a:ln w="12700">
            <a:solidFill>
              <a:srgbClr val="E8FB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3575304"/>
            <a:ext cx="8028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insight: Chapter 1 trains a single model on two sources simultaneously. Oracle documents have null PingOne fields — DFA handles this naturally, treating missing fields as absent features rather than errors. The model learns risk patterns across both systems at once.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64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E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Chapter 0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A4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02920" cy="36576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0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&amp;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 Review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Spin up the Instruqt cluster, run bootstrap to create index templates and data streams, then backfill 30 days of synthetic LendPath data. Verify data in Discover before proceeding.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645152"/>
            <a:ext cx="1280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6634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0 — SETUP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 </a:t>
            </a:r>
            <a:pPr indent="0" marL="0">
              <a:buNone/>
            </a:pPr>
            <a:r>
              <a:rPr lang="en-US" sz="22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2004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872" y="4773168"/>
            <a:ext cx="128016" cy="347472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47914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237744" cy="237744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8096" y="1170432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configuration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68096" y="1380744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cluster-config script to configure Elasticsearch, Kibana settings, and enable required features (Agent Builder, Workflows).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237744" cy="237744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9280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68096" y="187452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68096" y="2084832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index templates with cross-index consistent field mappings, data streams, patches existing backing index mappings, and creates Kibana data views.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237744" cy="237744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9689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68096" y="2578608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Backfill 30 days of data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68096" y="278892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synthetic data across all three streams with realistic diurnal patterns, business calendar, and correlated anomaly signals.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282696"/>
            <a:ext cx="237744" cy="237744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0098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68096" y="328269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in Discover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68096" y="3493008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all three data views are present, documents are flowing, and the time picker shows 30 days of coverage with expected peak/off-hours patterns.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80560" y="1170432"/>
            <a:ext cx="4206240" cy="1828800"/>
          </a:xfrm>
          <a:prstGeom prst="rect">
            <a:avLst/>
          </a:prstGeom>
          <a:solidFill>
            <a:srgbClr val="101C3F"/>
          </a:solidFill>
          <a:ln w="12700">
            <a:solidFill>
              <a:srgbClr val="101C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261872"/>
            <a:ext cx="3950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 1 — cluster config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https://github.com/iamhowardtheduck/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elastic-ml-lifecycle-automation.git &amp;&amp;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.../Scripts/cluster-config.sh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 2 — bootstrap + backfill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.../Scripts/bootstrap.sh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.../Scripts/backfill.sh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80560" y="3108960"/>
            <a:ext cx="36576" cy="822960"/>
          </a:xfrm>
          <a:prstGeom prst="rect">
            <a:avLst/>
          </a:prstGeom>
          <a:solidFill>
            <a:srgbClr val="FEC514"/>
          </a:solidFill>
          <a:ln w="12700">
            <a:solidFill>
              <a:srgbClr val="FEC5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7136" y="3108960"/>
            <a:ext cx="4169664" cy="822960"/>
          </a:xfrm>
          <a:prstGeom prst="rect">
            <a:avLst/>
          </a:prstGeom>
          <a:solidFill>
            <a:srgbClr val="FDF8E1"/>
          </a:solidFill>
          <a:ln w="12700">
            <a:solidFill>
              <a:srgbClr val="FDF8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3163824"/>
            <a:ext cx="4005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Prerequisite: Elastic Stack 9.2+ or Serverless. Workflows and Agent Builder must be enabled in Advanced Settings. An LLM connector is required for Chapter 2.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64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E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Chapter 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A4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02920" cy="36576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0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&amp; Train a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Job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Create, train, and deploy the mortgage-privileged-access-classification job — predict whether a privileged access event is LOW, MEDIUM, or HIGH risk by learning from PingOne IAM and Oracle DB audit events simultaneously.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645152"/>
            <a:ext cx="1280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6634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1 — STEP 1.1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the </a:t>
            </a:r>
            <a:pPr indent="0" marL="0">
              <a:buNone/>
            </a:pPr>
            <a:r>
              <a:rPr lang="en-US" sz="22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2004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872" y="4773168"/>
            <a:ext cx="128016" cy="347472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47914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397764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335024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2161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LOGS-PING_ONE.AUDIT-MORTGAGE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621792" y="13990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PingOne IAM Audit Events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1645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ping_one.audit.risk.level</a:t>
            </a:r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label (LOW/MED/HIGH)
</a:t>
            </a:r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ping_one.audit.risk.score</a:t>
            </a:r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numeric 0–100
</a:t>
            </a:r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ping_one.audit.action.type</a:t>
            </a:r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IAM action
</a:t>
            </a:r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ping_one.audit.result.status</a:t>
            </a:r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SUCCESS/FAILED/BLOCKED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97764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3364992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2461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5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LOGS-ORACLE.DATABASE_AUDIT-MORTGAGE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21792" y="34290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DB Audit Events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" y="36758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oracle.database_audit.action</a:t>
            </a:r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DROP TABLE, GRANT
</a:t>
            </a:r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</a:t>
            </a:r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oracle.database_audit.privilege</a:t>
            </a:r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SYSDBA, DBA
</a:t>
            </a:r>
            <a:pPr indent="0" marL="0">
              <a:buNone/>
            </a:pPr>
            <a:r>
              <a:rPr lang="en-US" sz="850" b="1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No PingOne fields — DFA handles null features naturally.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1170432"/>
            <a:ext cx="36576" cy="731520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45736" y="1170432"/>
            <a:ext cx="3941064" cy="731520"/>
          </a:xfrm>
          <a:prstGeom prst="rect">
            <a:avLst/>
          </a:prstGeom>
          <a:solidFill>
            <a:srgbClr val="EEF4FD"/>
          </a:solidFill>
          <a:ln w="12700">
            <a:solidFill>
              <a:srgbClr val="EEF4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1225296"/>
            <a:ext cx="3776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Discussion: Why train one model on both sources rather than two separate models?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965960"/>
            <a:ext cx="36576" cy="960120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45736" y="1965960"/>
            <a:ext cx="3941064" cy="960120"/>
          </a:xfrm>
          <a:prstGeom prst="rect">
            <a:avLst/>
          </a:prstGeom>
          <a:solidFill>
            <a:srgbClr val="E8FBF7"/>
          </a:solidFill>
          <a:ln w="12700">
            <a:solidFill>
              <a:srgbClr val="E8FB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020824"/>
            <a:ext cx="37764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cross-source model sees the full feature space. It learns that SYSDBA privilege escalation in Oracle carries the same risk signature as USER.MFA.BYPASS in PingOne — because both co-occurred with HIGH risk labels during training.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999232"/>
            <a:ext cx="36576" cy="685800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45736" y="2999232"/>
            <a:ext cx="3941064" cy="685800"/>
          </a:xfrm>
          <a:prstGeom prst="rect">
            <a:avLst/>
          </a:prstGeom>
          <a:solidFill>
            <a:srgbClr val="EEF4FD"/>
          </a:solidFill>
          <a:ln w="12700">
            <a:solidFill>
              <a:srgbClr val="EEF4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3054096"/>
            <a:ext cx="3776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time picker to Last 30 days before exploring. Look for peaks at 10:00–12:00 local time and near-zero volume overnight.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1 — STEP 1.2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Class Balance </a:t>
            </a:r>
            <a:pPr indent="0" marL="0">
              <a:buNone/>
            </a:pPr>
            <a:r>
              <a:rPr lang="en-US" sz="22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ES|QL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2004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872" y="4773168"/>
            <a:ext cx="128016" cy="347472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47914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3977640" cy="1325880"/>
          </a:xfrm>
          <a:prstGeom prst="rect">
            <a:avLst/>
          </a:prstGeom>
          <a:solidFill>
            <a:srgbClr val="101C3F"/>
          </a:solidFill>
          <a:ln w="12700">
            <a:solidFill>
              <a:srgbClr val="101C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261872"/>
            <a:ext cx="3721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Class distribution: PingOne source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logs-ping_one.audit-mortgage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WHERE @timestamp &gt; NOW() - 30 days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STATS doc_count = COUNT(*)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BY ping_one.audit.risk.level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SORT doc_count DESC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977640" cy="1508760"/>
          </a:xfrm>
          <a:prstGeom prst="rect">
            <a:avLst/>
          </a:prstGeom>
          <a:solidFill>
            <a:srgbClr val="101C3F"/>
          </a:solidFill>
          <a:ln w="12700">
            <a:solidFill>
              <a:srgbClr val="101C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697480"/>
            <a:ext cx="37216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Verify Oracle + high-risk signals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logs-oracle.database_audit-mortgage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WHERE @timestamp &gt; NOW() - 30 days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STATS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      = COUNT(*),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sysdba_count = SUM(CASE(privilege ==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"SYSDBA", 1, 0)),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drop_count   = SUM(CASE(action ==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"DROP TABLE", 1, 0))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36576" cy="731520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45736" y="1170432"/>
            <a:ext cx="3941064" cy="731520"/>
          </a:xfrm>
          <a:prstGeom prst="rect">
            <a:avLst/>
          </a:prstGeom>
          <a:solidFill>
            <a:srgbClr val="EEF4FD"/>
          </a:solidFill>
          <a:ln w="12700">
            <a:solidFill>
              <a:srgbClr val="EEF4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225296"/>
            <a:ext cx="3776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expect: THREE rows — LOW dominating, MEDIUM moderate, HIGH rarest. You need several hundred in each class for reliable training.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965960"/>
            <a:ext cx="36576" cy="841248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45736" y="1965960"/>
            <a:ext cx="3941064" cy="841248"/>
          </a:xfrm>
          <a:prstGeom prst="rect">
            <a:avLst/>
          </a:prstGeom>
          <a:solidFill>
            <a:srgbClr val="E8FBF7"/>
          </a:solidFill>
          <a:ln w="12700">
            <a:solidFill>
              <a:srgbClr val="E8FB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2020824"/>
            <a:ext cx="3776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ES|QL tip: COUNT(field) counts non-null rows — it does NOT filter on a condition. Use SUM(CASE(condition, 1, 0)) to count rows matching a condition. The workshop uses this pattern throughout.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36576" cy="731520"/>
          </a:xfrm>
          <a:prstGeom prst="rect">
            <a:avLst/>
          </a:prstGeom>
          <a:solidFill>
            <a:srgbClr val="FEC514"/>
          </a:solidFill>
          <a:ln w="12700">
            <a:solidFill>
              <a:srgbClr val="FEC5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45736" y="2880360"/>
            <a:ext cx="3941064" cy="731520"/>
          </a:xfrm>
          <a:prstGeom prst="rect">
            <a:avLst/>
          </a:prstGeom>
          <a:solidFill>
            <a:srgbClr val="FDF8E1"/>
          </a:solidFill>
          <a:ln w="12700">
            <a:solidFill>
              <a:srgbClr val="FDF8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935224"/>
            <a:ext cx="3776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matters: If HIGH is very sparse, the maximize_minimum_recall objective specifically penalises the model for missing rare classes — the right choice for imbalanced security data.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1 — STEP 1.3 PART 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the Kibana </a:t>
            </a:r>
            <a:pPr indent="0" marL="0">
              <a:buNone/>
            </a:pPr>
            <a:r>
              <a:rPr lang="en-US" sz="22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DFA Wizard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2004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872" y="4773168"/>
            <a:ext cx="128016" cy="347472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47914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237744" cy="237744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8096" y="117043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Navigate → Data Frame Analytics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68096" y="1380744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'data frame analytics' in the top bar. Click Create Data Frame Analytics Job.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856232"/>
            <a:ext cx="237744" cy="237744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7452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68096" y="185623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multi-index data view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68096" y="2066544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 pattern: logs-ping_one.audit-mortgage*,logs-oracle.database_audit-mortgage*. Name it logs-mortgage-privileged-access-classification.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237744" cy="237744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6032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68096" y="254203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Classification, set dependent variable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68096" y="2752344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type = Classification. Dependent variable = ping_one.audit.risk.level. Expand Hyperparameters — note maximize_minimum_recall.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227832"/>
            <a:ext cx="237744" cy="237744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4612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68096" y="322783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the Analyzed Fields limitation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68096" y="3438144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UI only offers an Includes picker — no Excludes field. This is why we use Dev Tools for the final job.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913632"/>
            <a:ext cx="237744" cy="237744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3192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8096" y="391363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job (do NOT start immediately)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8096" y="4123944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ID = mortgage-privileged-access-classification. DISABLE 'Start immediately' before pressing Create.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46320" y="1170432"/>
            <a:ext cx="36576" cy="685800"/>
          </a:xfrm>
          <a:prstGeom prst="rect">
            <a:avLst/>
          </a:prstGeom>
          <a:solidFill>
            <a:srgbClr val="FF957D"/>
          </a:solidFill>
          <a:ln w="12700">
            <a:solidFill>
              <a:srgbClr val="FF957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82896" y="1170432"/>
            <a:ext cx="3803904" cy="685800"/>
          </a:xfrm>
          <a:prstGeom prst="rect">
            <a:avLst/>
          </a:prstGeom>
          <a:solidFill>
            <a:srgbClr val="FEF0EC"/>
          </a:solidFill>
          <a:ln w="12700">
            <a:solidFill>
              <a:srgbClr val="FEF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1225296"/>
            <a:ext cx="36393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IMPORTANT: Disable 'Start immediately' before pressing Create. You'll update the job definition via Dev Tools before starting training.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1920240"/>
            <a:ext cx="36576" cy="777240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82896" y="1920240"/>
            <a:ext cx="3803904" cy="777240"/>
          </a:xfrm>
          <a:prstGeom prst="rect">
            <a:avLst/>
          </a:prstGeom>
          <a:solidFill>
            <a:srgbClr val="EEF4FD"/>
          </a:solidFill>
          <a:ln w="12700">
            <a:solidFill>
              <a:srgbClr val="EEF4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1975104"/>
            <a:ext cx="36393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the wizard first? It generates the base JSON structure — source indices, dependent variable, training_percent — which you retrieve and extend rather than write from scratch.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2761488"/>
            <a:ext cx="36576" cy="841248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82896" y="2761488"/>
            <a:ext cx="3803904" cy="841248"/>
          </a:xfrm>
          <a:prstGeom prst="rect">
            <a:avLst/>
          </a:prstGeom>
          <a:solidFill>
            <a:srgbClr val="E8FBF7"/>
          </a:solidFill>
          <a:ln w="12700">
            <a:solidFill>
              <a:srgbClr val="E8FB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2816352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key gap: Without an excludes list, DFA would analyze @timestamp, user.id, and user.name. The model would memorize WHEN events happen and WHO performed them — not the behavioral patterns that signal genuine risk.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1 — STEP 1.3 PART B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Recreate with </a:t>
            </a:r>
            <a:pPr indent="0" marL="0">
              <a:buNone/>
            </a:pPr>
            <a:r>
              <a:rPr lang="en-US" sz="22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Excludes + Hyperparameters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2004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872" y="4773168"/>
            <a:ext cx="128016" cy="347472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47914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4480560" cy="3703320"/>
          </a:xfrm>
          <a:prstGeom prst="rect">
            <a:avLst/>
          </a:prstGeom>
          <a:solidFill>
            <a:srgbClr val="101C3F"/>
          </a:solidFill>
          <a:ln w="12700">
            <a:solidFill>
              <a:srgbClr val="101C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261872"/>
            <a:ext cx="422452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_ml/data_frame/analytics/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mortgage-privileged-access-classification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"source": { "index": [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"logs-ping_one.audit-mortgage",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"logs-oracle.database_audit-mortgage"] },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"dest": { "index": "mortgage-priv...",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"results_field": "ml" },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"analysis": { "classification":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"dependent_variable": "ping_one.audit.risk.level",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"training_percent": 80, "num_top_classes": 3,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"prediction_field_name": "risk_level_prediction",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"num_top_feature_importance_values": 5,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"class_assignment_objective": "maximize_minimum_recall",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"lambda": 0.1, "gamma": 0.1,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"eta": 0.1, "feature_bag_fraction": 0.5 }},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"analyzed_fields":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"includes": ["ping_one.audit.risk.score",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"ping_one.audit.risk.level",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"ping_one.audit.action.type",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"ping_one.audit.result.status",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"oracle.database_audit.action",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"oracle.database_audit.privilege",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"event.outcome"],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"excludes": ["@timestamp","user.id","user.name"] },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"model_memory_limit": "550mb"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166360" y="1170432"/>
            <a:ext cx="352044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30952" y="1335024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0952" y="12161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analyzed_fields.excludes populated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30952" y="14264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@timestamp, user.id, user.name stripped. Prevents the model learning time-based or identity-based patterns instead of behavioral risk.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166360" y="2286000"/>
            <a:ext cx="352044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30952" y="2450592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0952" y="2331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Hyperparameters as flat fields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30952" y="25420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lambda, gamma, eta, feature_bag_fraction are siblings of dependent_variable — not nested. The API rejects a 'hyperparameters' sub-key.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166360" y="3401568"/>
            <a:ext cx="352044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30952" y="3566160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34472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 Tight includes list (7 fields)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30952" y="3657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the fields that carry genuine risk signal. Keeps the feature space clean and the destination index lean.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1 — STEP 1.3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Each </a:t>
            </a:r>
            <a:pPr indent="0" marL="0">
              <a:buNone/>
            </a:pPr>
            <a:r>
              <a:rPr lang="en-US" sz="22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Analyzed Field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2004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872" y="4773168"/>
            <a:ext cx="128016" cy="347472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47914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74904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4297680"/>
              </a:tblGrid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4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ROLE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4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REASON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4DD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ping_one.audit.risk.score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Numeric 0–100 IAM risk signal — strongest single predictor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ping_one.audit.risk.level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Dependent variable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label the model learns to predict: LOW / MEDIUM / HIGH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ping_one.audit.action.type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IAM action category — AUTHENTICATION, MFA, ADMIN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ping_one.audit.result.status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SUCCESS, FAILED, BLOCKED — strong failure signal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oracle.database_audit.action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SQL action — DROP TABLE, GRANT, SELECT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oracle.database_audit.privilege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SYSDBA, DBA, NOT APPLICABLE — privilege level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event.outcome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Cross-source success/failure signal in both sources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@timestamp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EXCLUDED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 must never be a feature — model would learn when, not why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user.id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EXCLUDED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Individual identity must never be a feature — would memorize specific users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user.name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EXCLUDED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437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Same reason as user.id — behavioral patterns, not identity patterns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1 — STEP 1.4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the Job &amp; </a:t>
            </a:r>
            <a:pPr indent="0" marL="0">
              <a:buNone/>
            </a:pPr>
            <a:r>
              <a:rPr lang="en-US" sz="22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Training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2004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872" y="4773168"/>
            <a:ext cx="128016" cy="347472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47914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36576" cy="502920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1170432"/>
            <a:ext cx="3986784" cy="502920"/>
          </a:xfrm>
          <a:prstGeom prst="rect">
            <a:avLst/>
          </a:prstGeom>
          <a:solidFill>
            <a:srgbClr val="EEF4FD"/>
          </a:solidFill>
          <a:ln w="12700">
            <a:solidFill>
              <a:srgbClr val="EEF4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25296"/>
            <a:ext cx="3822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Navigate to Data Frame Analytics → Jobs. Click ▶ Start on mortgage-privileged-access-classification. Press Refresh to watch phases advance.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01368"/>
            <a:ext cx="219456" cy="219456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01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49808" y="1783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reindexing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9808" y="19842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documents from both sources copied to destination index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487168"/>
            <a:ext cx="219456" cy="219456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871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49808" y="2468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loading_data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9808" y="2670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extracted and prepared for the boosted tree algorithm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172968"/>
            <a:ext cx="219456" cy="219456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72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49808" y="31546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feature_selection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9808" y="3355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Zero-variance fields dropped before training begins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858768"/>
            <a:ext cx="219456" cy="219456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587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49808" y="3840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coarse_parameter_search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49808" y="4041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Bayesian search over hyperparameter space — slowest phase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09160" y="1801368"/>
            <a:ext cx="219456" cy="219456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801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01768" y="1783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fine_tuning_parameters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01768" y="19842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Coarse candidates narrowed to final hyperparameter values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09160" y="2487168"/>
            <a:ext cx="219456" cy="219456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4871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001768" y="2468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final_training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01768" y="2670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trained on 80% of data; hyperparameters locked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3172968"/>
            <a:ext cx="219456" cy="219456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172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01768" y="31546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writing_results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01768" y="3355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Predictions written back to the held-out 20% test set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09160" y="3858768"/>
            <a:ext cx="219456" cy="219456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8587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001768" y="3840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inference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01768" y="4041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Precision, recall, confusion matrix computed and stored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4572000"/>
            <a:ext cx="36576" cy="365760"/>
          </a:xfrm>
          <a:prstGeom prst="rect">
            <a:avLst/>
          </a:prstGeom>
          <a:solidFill>
            <a:srgbClr val="FEC514"/>
          </a:solidFill>
          <a:ln w="12700">
            <a:solidFill>
              <a:srgbClr val="FEC51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3776" y="4572000"/>
            <a:ext cx="8193024" cy="365760"/>
          </a:xfrm>
          <a:prstGeom prst="rect">
            <a:avLst/>
          </a:prstGeom>
          <a:solidFill>
            <a:srgbClr val="FDF8E1"/>
          </a:solidFill>
          <a:ln w="12700">
            <a:solidFill>
              <a:srgbClr val="FDF8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4626864"/>
            <a:ext cx="8028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completion: Click 'Synchronize your jobs and trained models' before exploring results. Training typically takes 3–8 minutes.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1 — STEP 1.5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</a:t>
            </a:r>
            <a:pPr indent="0" marL="0">
              <a:buNone/>
            </a:pPr>
            <a:r>
              <a:rPr lang="en-US" sz="22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2004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872" y="4773168"/>
            <a:ext cx="128016" cy="347472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47914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397764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335024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353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16002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job completes, click Explore Results. Look for: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HIGH recall: what % of actual HIGH events predicted correctly?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LOW precision: how many LOW predictions were actually LOW?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Any systematic MEDIUM↔HIGH misclassification?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maximize_minimum_recall means HIGH should be the strongest class.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97764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" y="3182112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Importance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344728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any document in the results table. The Feature Importance panel shows which fields drove that specific prediction.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a HIGH-risk document expect ping_one.audit.risk.score or oracle.database_audit.privilege near the top.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importance answers WHY — not just WHAT. In compliance, showing an auditor why a transaction was flagged is as important as flagging it.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1170432"/>
            <a:ext cx="3977640" cy="2286000"/>
          </a:xfrm>
          <a:prstGeom prst="rect">
            <a:avLst/>
          </a:prstGeom>
          <a:solidFill>
            <a:srgbClr val="101C3F"/>
          </a:solidFill>
          <a:ln w="12700">
            <a:solidFill>
              <a:srgbClr val="101C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1261872"/>
            <a:ext cx="37216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final hyperparameters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_ml/data_frame/analytics/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mortgage-privileged-access-classification/_stats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response: hyperparameters block: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"hyperparameters":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"class_assignment_objective":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"maximize_minimum_recall",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"alpha": 0.84,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"downsample_factor": 0.91,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"eta": 0.1,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"eta_growth_rate": 1.02,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"feature_bag_fraction": 0.5,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"max_trees": 894,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"soft_tree_depth_limit": 3.05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709160" y="3566160"/>
            <a:ext cx="36576" cy="1005840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45736" y="3566160"/>
            <a:ext cx="3941064" cy="1005840"/>
          </a:xfrm>
          <a:prstGeom prst="rect">
            <a:avLst/>
          </a:prstGeom>
          <a:solidFill>
            <a:srgbClr val="E8FBF7"/>
          </a:solidFill>
          <a:ln w="12700">
            <a:solidFill>
              <a:srgbClr val="E8FB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3621024"/>
            <a:ext cx="37764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downsample_factor: 0.91 → dataset large enough for near-full gradients. max_trees: 894 → model used all allocated trees. soft_tree_depth_limit: 3.05 → shallow trees, simple risk patterns. The optimizer agreed with your manual regularization choices.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1 — STEPS 1.6 + 1.7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Model &amp; </a:t>
            </a:r>
            <a:pPr indent="0" marL="0">
              <a:buNone/>
            </a:pPr>
            <a:r>
              <a:rPr lang="en-US" sz="22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Ingest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2004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872" y="4773168"/>
            <a:ext cx="128016" cy="347472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47914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4297680" cy="2423160"/>
          </a:xfrm>
          <a:prstGeom prst="rect">
            <a:avLst/>
          </a:prstGeom>
          <a:solidFill>
            <a:srgbClr val="101C3F"/>
          </a:solidFill>
          <a:ln w="12700">
            <a:solidFill>
              <a:srgbClr val="101C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261872"/>
            <a:ext cx="40416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1.6 — Get the trained model ID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_ml/trained_models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?tags=mortgage-privileged-access-classification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&amp;human=true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Confirm model_type: tree_ensemble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1.7 — Create the inference pipeline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_ingest/pipeline/mortgage-privileged-access-ml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"processors": [{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"inference":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"model_id": "mortgage-priv...-{{timestamp}}",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"target_field": "ml",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"inference_config":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"classification":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"num_top_classes": 3,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"results_field": "risk_level_prediction",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"top_classes_results_field": "top_classes"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}},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"on_failure": [{"set":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"field": "ml.inference_error",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"value": "{{_ingest.on_failure_message}}"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}}]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0" y="1170432"/>
            <a:ext cx="36576" cy="411480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65776" y="1170432"/>
            <a:ext cx="3621024" cy="411480"/>
          </a:xfrm>
          <a:prstGeom prst="rect">
            <a:avLst/>
          </a:prstGeom>
          <a:solidFill>
            <a:srgbClr val="EEF4FD"/>
          </a:solidFill>
          <a:ln w="12700">
            <a:solidFill>
              <a:srgbClr val="EEF4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225296"/>
            <a:ext cx="3456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the pipeline before wiring it to live data: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1645920"/>
            <a:ext cx="3657600" cy="1371600"/>
          </a:xfrm>
          <a:prstGeom prst="rect">
            <a:avLst/>
          </a:prstGeom>
          <a:solidFill>
            <a:srgbClr val="101C3F"/>
          </a:solidFill>
          <a:ln w="12700">
            <a:solidFill>
              <a:srgbClr val="101C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1737360"/>
            <a:ext cx="3401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PingOne document simulate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_ingest/pipeline/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mortgage-privileged-access-ml/_simulate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"docs": [{ "_source":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"ping_one.audit.risk.score": 91.5,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"ping_one.audit.result.status": "FAILED",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"event.outcome": "failure" }}]}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029200" y="3090672"/>
            <a:ext cx="3657600" cy="1188720"/>
          </a:xfrm>
          <a:prstGeom prst="rect">
            <a:avLst/>
          </a:prstGeom>
          <a:solidFill>
            <a:srgbClr val="101C3F"/>
          </a:solidFill>
          <a:ln w="12700">
            <a:solidFill>
              <a:srgbClr val="101C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57216" y="3182112"/>
            <a:ext cx="3401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Oracle document simulate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.../mortgage-privileged-access-ml/_simulate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"docs": [{ "_source":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"oracle.database_audit.action": "DROP TABLE",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"oracle.database_audit.privilege": "SYSDBA",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"event.outcome": "success" }}]}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29200" y="4343400"/>
            <a:ext cx="36576" cy="502920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65776" y="4343400"/>
            <a:ext cx="3621024" cy="502920"/>
          </a:xfrm>
          <a:prstGeom prst="rect">
            <a:avLst/>
          </a:prstGeom>
          <a:solidFill>
            <a:srgbClr val="E8FBF7"/>
          </a:solidFill>
          <a:ln w="12700">
            <a:solidFill>
              <a:srgbClr val="E8FB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4398264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should return ml.risk_level_prediction = LOW/MED/HIGH plus ml.top_classes with probabilities for all 3 classes.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1 — STEP 1.8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 Pipeline to </a:t>
            </a:r>
            <a:pPr indent="0" marL="0">
              <a:buNone/>
            </a:pPr>
            <a:r>
              <a:rPr lang="en-US" sz="22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Data Streams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2004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872" y="4773168"/>
            <a:ext cx="128016" cy="347472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47914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4297680" cy="2423160"/>
          </a:xfrm>
          <a:prstGeom prst="rect">
            <a:avLst/>
          </a:prstGeom>
          <a:solidFill>
            <a:srgbClr val="101C3F"/>
          </a:solidFill>
          <a:ln w="12700">
            <a:solidFill>
              <a:srgbClr val="101C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261872"/>
            <a:ext cx="40416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 pipeline at data stream level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Propagates to current backing index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+ all future rollovers automatically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/logs-ping_one.audit-mortgage/_settings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"index":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"default_pipeline":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"mortgage-privileged-access-ml"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/logs-oracle.database_audit-mortgage/_settings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"index":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"default_pipeline":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"mortgage-privileged-access-ml"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/logs-ping_one.audit-mortgage/_settings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/index.default_pipeline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0" y="1170432"/>
            <a:ext cx="36576" cy="822960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65776" y="1170432"/>
            <a:ext cx="3621024" cy="822960"/>
          </a:xfrm>
          <a:prstGeom prst="rect">
            <a:avLst/>
          </a:prstGeom>
          <a:solidFill>
            <a:srgbClr val="E8FBF7"/>
          </a:solidFill>
          <a:ln w="12700">
            <a:solidFill>
              <a:srgbClr val="E8FB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225296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data stream level? Applying _settings to the data stream name (not the backing index .ds-logs-*) means the pipeline propagates to the current index and all future rollovers without re-applying manually.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2084832"/>
            <a:ext cx="36576" cy="822960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65776" y="2084832"/>
            <a:ext cx="3621024" cy="822960"/>
          </a:xfrm>
          <a:prstGeom prst="rect">
            <a:avLst/>
          </a:prstGeom>
          <a:solidFill>
            <a:srgbClr val="EEF4FD"/>
          </a:solidFill>
          <a:ln w="12700">
            <a:solidFill>
              <a:srgbClr val="EEF4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2139696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— View in UI: Search 'ingest pipelines' → find mortgage-privileged-access-ml → click Edit pipeline → click the Inference processor to see the model config in the UI.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2999232"/>
            <a:ext cx="36576" cy="822960"/>
          </a:xfrm>
          <a:prstGeom prst="rect">
            <a:avLst/>
          </a:prstGeom>
          <a:solidFill>
            <a:srgbClr val="FEC514"/>
          </a:solidFill>
          <a:ln w="12700">
            <a:solidFill>
              <a:srgbClr val="FEC5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65776" y="2999232"/>
            <a:ext cx="3621024" cy="822960"/>
          </a:xfrm>
          <a:prstGeom prst="rect">
            <a:avLst/>
          </a:prstGeom>
          <a:solidFill>
            <a:srgbClr val="FDF8E1"/>
          </a:solidFill>
          <a:ln w="12700">
            <a:solidFill>
              <a:srgbClr val="FDF8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3054096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Troubleshooting: If new documents show ml.inference_error, the model ID in the pipeline may not match the actual trained model. Run: GET _ml/trained_models?tags=mortgage-privileged-access-classification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1 — STEP 1.9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Live Predictions </a:t>
            </a:r>
            <a:pPr indent="0" marL="0">
              <a:buNone/>
            </a:pPr>
            <a:r>
              <a:rPr lang="en-US" sz="22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Discover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2004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872" y="4773168"/>
            <a:ext cx="128016" cy="347472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47914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237744" cy="237744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8096" y="1170432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live data generation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68096" y="1380744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host1-cli terminal run bash .../Scripts/livedata.sh to stream new events against the pipeline-wired data streams.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237744" cy="237744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9280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68096" y="187452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Discover → logs-ping_one.audit-mortgage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68096" y="2084832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time range to Last 15 minutes to see only new documents scored by the inference pipeline on ingest.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237744" cy="237744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9689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68096" y="2578608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ml.* columns to the table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68096" y="278892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Add: ml.risk_level_prediction, ml.top_classes, ping_one.audit.risk.score, event.outcome.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282696"/>
            <a:ext cx="237744" cy="237744"/>
          </a:xfrm>
          <a:prstGeom prst="ellipse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0098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68096" y="328269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 the pattern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68096" y="3493008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a HIGH-risk prediction. Does ml.risk_level_prediction = HIGH correlate with high risk.score values and FAILED outcomes?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46320" y="1170432"/>
            <a:ext cx="384048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10912" y="1335024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1371600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Columns to add in Discover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10912" y="16642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@timestamp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995160" y="166420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event arrived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10912" y="19476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event.outcome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995160" y="194767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/ failure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10912" y="22311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ping_one.audit.risk.score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995160" y="223113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IAM risk score 0–100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10912" y="25146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ping_one.audit.action.type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995160" y="25146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IAM action category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10912" y="27980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ml.risk_level_prediction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995160" y="279806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prediction (key output)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10912" y="30815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ml.top_classes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995160" y="30815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3 class probabilities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46320" y="3657600"/>
            <a:ext cx="36576" cy="749808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82896" y="3657600"/>
            <a:ext cx="3803904" cy="749808"/>
          </a:xfrm>
          <a:prstGeom prst="rect">
            <a:avLst/>
          </a:prstGeom>
          <a:solidFill>
            <a:srgbClr val="E8FBF7"/>
          </a:solidFill>
          <a:ln w="12700">
            <a:solidFill>
              <a:srgbClr val="E8FB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3712464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you're seeing: Every new document is scored at write time. No batch jobs. No separate inference service. The model output lives alongside the raw event data in the same index — queryable, alertable, dashboardable.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64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E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Chapter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A4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02920" cy="36576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 Analysis &amp;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Automation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Elastic Agent Builder to build an ML Readiness Analyst that discovers schema and assesses class balance — then wire an Elastic Workflow that automatically creates, trains, and deploys mortgage-audit-classification end-to-end.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645152"/>
            <a:ext cx="1280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6634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2 — AGENT + WORKFLOW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Readiness Analyst &amp; </a:t>
            </a:r>
            <a:pPr indent="0" marL="0">
              <a:buNone/>
            </a:pPr>
            <a:r>
              <a:rPr lang="en-US" sz="22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2004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872" y="4773168"/>
            <a:ext cx="128016" cy="347472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47914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397764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335024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2161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 2.1 – 2.3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21792" y="1399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ML Readiness Analyst 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1719072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list_indices — mandatory first action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Schema discovery — field types and mappings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 Class balance check — ES|QL histogram on audit.is_suspicious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 Feature analysis — correlation with label field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⑤ Readiness verdict + recommended hyperparameters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⑥ Trigger the Automation Workflow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170432"/>
            <a:ext cx="397764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73752" y="1335024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2161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 2.4 – 2.7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73752" y="1399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&amp; Run the Automation Workflow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3752" y="1719072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Check data readiness (doc count, field existence)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Create DFA classification job via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 Start job and poll training phases to completion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 Create inference pipeline for the trained 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⑤ Apply pipeline to logs-mortgage.audit-default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⑥ Review Workflow execution log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462272"/>
            <a:ext cx="36576" cy="502920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" y="4462272"/>
            <a:ext cx="8193024" cy="502920"/>
          </a:xfrm>
          <a:prstGeom prst="rect">
            <a:avLst/>
          </a:prstGeom>
          <a:solidFill>
            <a:srgbClr val="E8FBF7"/>
          </a:solidFill>
          <a:ln w="12700">
            <a:solidFill>
              <a:srgbClr val="E8FB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517136"/>
            <a:ext cx="8028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agent's job = understand the data. The Workflow's job = act on that understanding. Together they reduce a multi-hour manual process to a fully automated pipeline.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64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E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Chapter 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A4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02920" cy="36576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0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Thoughts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Take-Aways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three levels of ML automation. Key principles you can carry into any DFA project. Student challenge: apply this workflow to a new dataset.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645152"/>
            <a:ext cx="1280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6634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3 — TAKE-AWAYS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Three </a:t>
            </a:r>
            <a:pPr indent="0" marL="0">
              <a:buNone/>
            </a:pPr>
            <a:r>
              <a:rPr lang="en-US" sz="22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Levels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2004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872" y="4773168"/>
            <a:ext cx="128016" cy="347472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47914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265176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335024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188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1792" y="14447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21792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19659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Tools, Kibana wizard, step-by-step. Full control over every parameter. Best for learning the system — and for novel datasets where you need to inspect each decision.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" y="4297680"/>
            <a:ext cx="738835" cy="201168"/>
          </a:xfrm>
          <a:prstGeom prst="roundRect">
            <a:avLst>
              <a:gd name="adj" fmla="val 18182"/>
            </a:avLst>
          </a:prstGeom>
          <a:solidFill>
            <a:srgbClr val="D6E8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4306824"/>
            <a:ext cx="7388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1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91840" y="1170432"/>
            <a:ext cx="265176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56432" y="1335024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188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56432" y="14447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56432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Agent-Assisted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56432" y="19659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 discovers schema, checks class balance, assesses feature quality, and recommends hyperparameters. You review and approve before the job is created.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56432" y="4297680"/>
            <a:ext cx="1265530" cy="201168"/>
          </a:xfrm>
          <a:prstGeom prst="roundRect">
            <a:avLst>
              <a:gd name="adj" fmla="val 18182"/>
            </a:avLst>
          </a:prstGeom>
          <a:solidFill>
            <a:srgbClr val="FCE5F0"/>
          </a:solidFill>
          <a:ln w="12700">
            <a:solidFill>
              <a:srgbClr val="FCE5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4306824"/>
            <a:ext cx="12655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04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2 — Agent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126480" y="1170432"/>
            <a:ext cx="2651760" cy="356616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91072" y="1335024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1188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91072" y="14447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291072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Automated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91072" y="19659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creates the DFA job, starts training, polls for completion, creates the inference pipeline, applies it to the data stream, and reports back — without human intervention.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91072" y="4297680"/>
            <a:ext cx="1463040" cy="201168"/>
          </a:xfrm>
          <a:prstGeom prst="roundRect">
            <a:avLst>
              <a:gd name="adj" fmla="val 18182"/>
            </a:avLst>
          </a:prstGeom>
          <a:solidFill>
            <a:srgbClr val="D0F5EE"/>
          </a:solidFill>
          <a:ln w="12700">
            <a:solidFill>
              <a:srgbClr val="D0F5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4306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A8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2 — Workflow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B64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3 — TAKE-AWAYS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</a:t>
            </a:r>
            <a:pPr indent="0" marL="0">
              <a:buNone/>
            </a:pPr>
            <a:r>
              <a:rPr lang="en-US" sz="22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57200" cy="32004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872" y="4773168"/>
            <a:ext cx="128016" cy="347472"/>
          </a:xfrm>
          <a:prstGeom prst="rect">
            <a:avLst/>
          </a:prstGeom>
          <a:solidFill>
            <a:srgbClr val="0B64DD"/>
          </a:solidFill>
          <a:ln w="12700">
            <a:solidFill>
              <a:srgbClr val="0B64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47914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41148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335024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3716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Excludes matter as much as includes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1682496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Kibana wizard only exposes includes. Explicitly excluding @timestamp, user.id, and user.name is what makes the model learn behavioral risk patterns rather than time-of-day or user identity patterns.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00600" y="1170432"/>
            <a:ext cx="41148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65192" y="1335024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3716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Cross-source training unifies risk language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5192" y="1682496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model trained on PingOne + Oracle normalizes risk across two different systems. The pipeline produces ml.risk_level_prediction = HIGH regardless of which source the event came from.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090672"/>
            <a:ext cx="41148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3255264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2918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pipelines make ML operational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3602736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new event is scored at write time. No batch jobs, no separate inference service, no latency. The model output lives alongside the raw data in the same index — queryable, alertable, dashboardable.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00600" y="3090672"/>
            <a:ext cx="41148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01C3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65192" y="3255264"/>
            <a:ext cx="329184" cy="27432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32918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challenge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65192" y="3602736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the full lifecycle to a network traffic dataset. What is your dependent variable? What should be excluded? Build the agent prompt to discover it automatically.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64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5968" y="960120"/>
            <a:ext cx="502920" cy="36576"/>
          </a:xfrm>
          <a:prstGeom prst="rect">
            <a:avLst/>
          </a:prstGeom>
          <a:solidFill>
            <a:srgbClr val="48EFCF"/>
          </a:solidFill>
          <a:ln w="12700">
            <a:solidFill>
              <a:srgbClr val="48E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51560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Build Something</a:t>
            </a:r>
            <a:endParaRPr lang="en-US" sz="3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Predicts Risk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chapters. Three data streams. Two classification models. One end-to-end automation arc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audit logs to real-time inference on every new event.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0" y="363931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1A4A8A"/>
          </a:solidFill>
          <a:ln w="10160">
            <a:solidFill>
              <a:srgbClr val="48EF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3639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E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github.com/iamhowardtheduck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663440" y="363931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1A4A8A"/>
          </a:solidFill>
          <a:ln w="10160">
            <a:solidFill>
              <a:srgbClr val="48EF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3639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EF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elastic-ml-lifecycle-automation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069080" y="4434840"/>
            <a:ext cx="1280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4528" y="44531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4453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Search AI Company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Elastic ML — LendPath Classification Workshop</dc:title>
  <dc:subject>PptxGenJS Presentation</dc:subject>
  <dc:creator>Elastic</dc:creator>
  <cp:lastModifiedBy>Elastic</cp:lastModifiedBy>
  <cp:revision>1</cp:revision>
  <dcterms:created xsi:type="dcterms:W3CDTF">2026-04-13T13:05:07Z</dcterms:created>
  <dcterms:modified xsi:type="dcterms:W3CDTF">2026-04-13T13:05:07Z</dcterms:modified>
</cp:coreProperties>
</file>